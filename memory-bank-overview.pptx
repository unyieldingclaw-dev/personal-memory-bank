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Onboarding walkthrough of the Memory-Bank project. Open with the problem: AI assistants lose context between sessions. Memory-Bank is a template repository that fixes that — productive in under 15 minutes per project.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README.md line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Set audience expectations. Nobody has to be a deep technical expert — install slides are written for that.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README.md lines 138–148 (IDE support)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One-minute pitch. Anchor on 15 minutes per project.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README.md lines 1–3, 32–78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Concrete before/after. Tease the multi-agent code review — slides 11 and 12 go deep on it.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README.md lines 88–104</a:t>
            </a:r>
          </a:p>
          <a:p>
            <a:r>
              <a:rPr sz="1100"/>
              <a:t>- templates/CLAUDE.md Context Compaction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Don't walk every tile. Point at the grid: 'nine pieces, one repo.'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README.md lines 32–78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The AI 'reads first' effect is what makes it feel like it already knows your project. The next slide covers Handoff — how context is preserved when sessions fill up.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templates/memory-bank/*.md</a:t>
            </a:r>
          </a:p>
          <a:p>
            <a:r>
              <a:rPr sz="1100"/>
              <a:t>- templates/CLAUDE.md lines 5–20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Key message: memory-bank READING is automatic, always. Handoff is the ONE explicit thing the user types. The merge-and-delete step on Session 2 is what makes it seamless.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templates/CLAUDE.md lines 175–194 (Handoff Protocol)</a:t>
            </a:r>
          </a:p>
          <a:p>
            <a:r>
              <a:rPr sz="1100"/>
              <a:t>- standards/MEMORY-BANK.md Trigger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BLOCK / CONFIRM / WARN maps to how you want an AI teammate to behave: never / pause / heads-up.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standards/SECURITY-GUARDRAILS.md</a:t>
            </a:r>
          </a:p>
          <a:p>
            <a:r>
              <a:rPr sz="1100"/>
              <a:t>- .cursor/rules/security.mdc</a:t>
            </a:r>
          </a:p>
          <a:p>
            <a:r>
              <a:rPr sz="1100"/>
              <a:t>- templates/CLAUDE.md lines 33–62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Verification before done is the biggest win. Stops 'I think it works' declarations.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standards/CODE-QUALITY.md</a:t>
            </a:r>
          </a:p>
          <a:p>
            <a:r>
              <a:rPr sz="1100"/>
              <a:t>- templates/CLAUDE.md lines 64–87</a:t>
            </a:r>
          </a:p>
          <a:p>
            <a:r>
              <a:rPr sz="1100"/>
              <a:t>- standards/extensions/python.md, typescript.md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Accessibility is a conditional standard, not always-on. The Cursor rule auto-activates on UI files only, and the slash command is invoked explicitly. Full standard at standards/ACCESSIBILITY.md. Already propagated to 15 existing team projects alongside Memory-Bank.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standards/ACCESSIBILITY.md</a:t>
            </a:r>
          </a:p>
          <a:p>
            <a:r>
              <a:rPr sz="1100"/>
              <a:t>- .cursor/rules/accessibility.mdc</a:t>
            </a:r>
          </a:p>
          <a:p>
            <a:r>
              <a:rPr sz="1100"/>
              <a:t>- .claude/commands/accessibility-review.md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Six additions from the v1.5 enterprise review. Motivated by the 2025 OWASP LLM Top 10, NIST SP 800-218A, CISA/NSA AI guidance, and recent incidents (LiteLLM, PhantomRaven, EchoLeak). User scope was no-bloat, team-success-focused. Residual gaps are explicitly acknowledged in LLM-TOP-10-MAPPING.md rather than silently ignored.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standards/RULES-FILE-INTEGRITY.md</a:t>
            </a:r>
          </a:p>
          <a:p>
            <a:r>
              <a:rPr sz="1100"/>
              <a:t>- standards/DATA-CLASSIFICATION.md</a:t>
            </a:r>
          </a:p>
          <a:p>
            <a:r>
              <a:rPr sz="1100"/>
              <a:t>- standards/SECRETS.md</a:t>
            </a:r>
          </a:p>
          <a:p>
            <a:r>
              <a:rPr sz="1100"/>
              <a:t>- standards/LLM-TOP-10-MAPPING.md</a:t>
            </a:r>
          </a:p>
          <a:p>
            <a:r>
              <a:rPr sz="1100"/>
              <a:t>- standards/MODEL-GOVERNANCE.md</a:t>
            </a:r>
          </a:p>
          <a:p>
            <a:r>
              <a:rPr sz="1100"/>
              <a:t>- templates/INCIDENT-RUNBOOK.md</a:t>
            </a:r>
          </a:p>
          <a:p>
            <a:r>
              <a:rPr sz="1100"/>
              <a:t>- standards/SECURITY-GUARDRAILS.md (Agent resource controls section)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Structured logging pays off during incidents. PII redaction is automatic when using structlog with PIISanitizer.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standards/LOGGING.md</a:t>
            </a:r>
          </a:p>
          <a:p>
            <a:r>
              <a:rPr sz="1100"/>
              <a:t>- docs/LOGGING-GUIDE.md</a:t>
            </a:r>
          </a:p>
          <a:p>
            <a:r>
              <a:rPr sz="1100"/>
              <a:t>- README.md lines 119–130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Breadcrumb shows the 7-phase flow left-to-right. Implement is highlighted — that's where TDD lives. Left column details each phase; right column covers when to skip ahead and how to trigger the workflow in each IDE.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templates/CLAUDE.md (Workflow section)</a:t>
            </a:r>
          </a:p>
          <a:p>
            <a:r>
              <a:rPr sz="1100"/>
              <a:t>- standards/WORKFLOW.md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ONE half of /code-review — the three parallel reviewers. Next slide covers test coverage + opponent auditor.</a:t>
            </a:r>
          </a:p>
          <a:p>
            <a:r>
              <a:rPr sz="1100"/>
              <a:t>Key message: role separation prevents bias.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.claude/commands/code-review.md Steps 1–3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Anchor on two points: (1) Step 4 GENERATES missing tests, not just flags them. (2) Step 5 auditor triages findings so you know what to act on.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.claude/commands/code-review.md Step 4 (lines 76–87), Step 5 (lines 89–96)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The install scaffolds into the current working directory — cd into the project first. Fallback if irm/iex is blocked: git clone then run the script locally.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README.md line 12 (one-liner)</a:t>
            </a:r>
          </a:p>
          <a:p>
            <a:r>
              <a:rPr sz="1100"/>
              <a:t>- scripts/init-memory-bank.ps1</a:t>
            </a:r>
          </a:p>
          <a:p>
            <a:r>
              <a:rPr sz="1100"/>
              <a:t>- docs/SETUP-GUIDE.md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Same flow as Windows — only the shell differs. curl | bash scaffolds into the current directory.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README.md line 21</a:t>
            </a:r>
          </a:p>
          <a:p>
            <a:r>
              <a:rPr sz="1100"/>
              <a:t>- scripts/init-memory-bank.sh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The "why" half of global setup — explains the value (every project inherits security/code-quality/logging/workflow/Karpathy + slash commands) and where the rules live on disk. The next two slides show the actual run-once commands per OS.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docs/SETUP-GUIDE.md (global setup)</a:t>
            </a:r>
          </a:p>
          <a:p>
            <a:r>
              <a:rPr sz="1100"/>
              <a:t>- docs/GLOBAL-RULES-SETUP.md</a:t>
            </a:r>
          </a:p>
          <a:p>
            <a:r>
              <a:rPr sz="1100"/>
              <a:t>- docs/CLAUDE-CODE-PLUGINS.md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Windows / PowerShell run-once commands. Full-width code box at default 16pt — long paths fit cleanly. Mac / Linux equivalent on the next slide.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docs/SETUP-GUIDE.md (global setup)</a:t>
            </a:r>
          </a:p>
          <a:p>
            <a:r>
              <a:rPr sz="1100"/>
              <a:t>- docs/GLOBAL-RULES-SETUP.md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Mac/Linux variant of the global setup. Same destination paths, bash idioms instead of PowerShell. Most teams know one or the other — this slide for the bash side.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docs/SETUP-GUIDE.md (global setup)</a:t>
            </a:r>
          </a:p>
          <a:p>
            <a:r>
              <a:rPr sz="1100"/>
              <a:t>- docs/GLOBAL-RULES-SETUP.md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The first run converts skeptics. Pick a small feature with inputs + outputs + an error path.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docs/SETUP-GUIDE.md verification section</a:t>
            </a:r>
          </a:p>
          <a:p>
            <a:r>
              <a:rPr sz="1100"/>
              <a:t>- training/exercises/01-basic-setup.md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Close with a concrete rollout plan. The closing line is quotable — land it, pause, take questions.</a:t>
            </a:r>
          </a:p>
          <a:p>
            <a:r>
              <a:rPr sz="1100"/>
              <a:t>Direct follow-ups to the Teams channel 'RE - SkyNet Support - AI Discussion' or email Eric Nolan (eric.c.nolan@t-mobile.com).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README.md Contributing + Support</a:t>
            </a:r>
          </a:p>
          <a:p>
            <a:r>
              <a:rPr sz="1100"/>
              <a:t>- CONTRIBUTING.md</a:t>
            </a:r>
          </a:p>
          <a:p>
            <a:r>
              <a:rPr sz="1100"/>
              <a:t>- training/exercises/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These are the shortcuts for daily use. mb commands are the Memory Bank utility; slash commands run in Claude Code (and the cursor rule equivalents trigger the same workflows).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docs/QUICK-REFERENCE.md (Quick Commands table)</a:t>
            </a:r>
          </a:p>
          <a:p>
            <a:r>
              <a:rPr sz="1100"/>
              <a:t>- scripts/mb.ps1, scripts/mb.sh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Recap of the eight things the audience now understands. Each line pairs a concept with its outcome. Use this as the 'what did we just cover' slide before Q&amp;A.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README.md (What's Included)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 track:</a:t>
            </a:r>
          </a:p>
          <a:p>
            <a:r>
              <a:rPr sz="1100"/>
              <a:t>Final slide — point the audience at the docs and the Teams channel for questions.</a:t>
            </a:r>
          </a:p>
          <a:p>
            <a:r>
              <a:rPr sz="1100"/>
              <a:t>Teams channel: RE - SkyNet Support - AI Discussion (direct message Eric Nolan if needed).</a:t>
            </a:r>
          </a:p>
          <a:p>
            <a:r>
              <a:rPr sz="1100"/>
              <a:t>GitLab: https://gitlab.com/tmobile/ere/memory-bank</a:t>
            </a:r>
          </a:p>
          <a:p/>
          <a:p>
            <a:r>
              <a:rPr b="1" sz="1200"/>
              <a:t>Repo files referenced:</a:t>
            </a:r>
          </a:p>
          <a:p>
            <a:r>
              <a:rPr sz="1100"/>
              <a:t>- README.md Support section</a:t>
            </a:r>
          </a:p>
          <a:p>
            <a:r>
              <a:rPr sz="1100"/>
              <a:t>- docs/SETUP-GUIDE.md</a:t>
            </a:r>
          </a:p>
          <a:p>
            <a:r>
              <a:rPr sz="1100"/>
              <a:t>- docs/QUICK-REFERENCE.md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 / 25</a:t>
            </a:r>
          </a:p>
        </p:txBody>
      </p:sp>
      <p:sp>
        <p:nvSpPr>
          <p:cNvPr id="5" name="Oval 4"/>
          <p:cNvSpPr/>
          <p:nvPr/>
        </p:nvSpPr>
        <p:spPr>
          <a:xfrm>
            <a:off x="4815687" y="868680"/>
            <a:ext cx="2560320" cy="2560320"/>
          </a:xfrm>
          <a:prstGeom prst="ellipse">
            <a:avLst/>
          </a:prstGeom>
          <a:solidFill>
            <a:srgbClr val="861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4247" y="1051560"/>
            <a:ext cx="274320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0">
                <a:latin typeface="Segoe UI Emoji"/>
              </a:rPr>
              <a:t>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90007" y="3703320"/>
            <a:ext cx="2011680" cy="6400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094415" cy="10058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TeleNeo"/>
              </a:rPr>
              <a:t>Memory-Bank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94415" cy="6400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2200" b="0">
                <a:solidFill>
                  <a:srgbClr val="E8E8E8"/>
                </a:solidFill>
                <a:latin typeface="TeleNeo"/>
              </a:rPr>
              <a:t>Safer, more consistent AI coding assistants — across sessions.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300" b="0">
                <a:solidFill>
                  <a:srgbClr val="6A6A6A"/>
                </a:solidFill>
                <a:latin typeface="TeleNeo"/>
              </a:rPr>
              <a:t>Internal enablement  ·  T-Mobile Release Engineering / AERO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Who this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11535" cy="34747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20074"/>
                </a:solidFill>
                <a:latin typeface="TeleNeo"/>
              </a:rPr>
              <a:t>•  </a:t>
            </a:r>
            <a:r>
              <a:rPr sz="1800" b="1">
                <a:solidFill>
                  <a:srgbClr val="E20074"/>
                </a:solidFill>
                <a:latin typeface="TeleNeo"/>
              </a:rPr>
              <a:t>Individual contributors</a:t>
            </a:r>
            <a:r>
              <a:rPr sz="1800" b="0">
                <a:solidFill>
                  <a:srgbClr val="FFFFFF"/>
                </a:solidFill>
                <a:latin typeface="TeleNeo"/>
              </a:rPr>
              <a:t>  — engineers who use Cursor or Claude Code daily.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20074"/>
                </a:solidFill>
                <a:latin typeface="TeleNeo"/>
              </a:rPr>
              <a:t>•  </a:t>
            </a:r>
            <a:r>
              <a:rPr sz="1800" b="1">
                <a:solidFill>
                  <a:srgbClr val="E20074"/>
                </a:solidFill>
                <a:latin typeface="TeleNeo"/>
              </a:rPr>
              <a:t>Tech leads</a:t>
            </a:r>
            <a:r>
              <a:rPr sz="1800" b="0">
                <a:solidFill>
                  <a:srgbClr val="FFFFFF"/>
                </a:solidFill>
                <a:latin typeface="TeleNeo"/>
              </a:rPr>
              <a:t>  — owners of AI coding standards; reviewers who want predictable output.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20074"/>
                </a:solidFill>
                <a:latin typeface="TeleNeo"/>
              </a:rPr>
              <a:t>•  </a:t>
            </a:r>
            <a:r>
              <a:rPr sz="1800" b="1">
                <a:solidFill>
                  <a:srgbClr val="E20074"/>
                </a:solidFill>
                <a:latin typeface="TeleNeo"/>
              </a:rPr>
              <a:t>Engineering managers</a:t>
            </a:r>
            <a:r>
              <a:rPr sz="1800" b="0">
                <a:solidFill>
                  <a:srgbClr val="FFFFFF"/>
                </a:solidFill>
                <a:latin typeface="TeleNeo"/>
              </a:rPr>
              <a:t>  — stakeholders who need safer defaults, fewer incidents, faster onboarding.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20074"/>
                </a:solidFill>
                <a:latin typeface="TeleNeo"/>
              </a:rPr>
              <a:t>•  </a:t>
            </a:r>
            <a:r>
              <a:rPr sz="1800" b="1">
                <a:solidFill>
                  <a:srgbClr val="E20074"/>
                </a:solidFill>
                <a:latin typeface="TeleNeo"/>
              </a:rPr>
              <a:t>Anyone AI-assisting a repo</a:t>
            </a:r>
            <a:r>
              <a:rPr sz="1800" b="0">
                <a:solidFill>
                  <a:srgbClr val="FFFFFF"/>
                </a:solidFill>
                <a:latin typeface="TeleNeo"/>
              </a:rPr>
              <a:t>  — mixed skill levels welcome; install slides are plain-English.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E20074"/>
                </a:solidFill>
                <a:latin typeface="TeleNeo"/>
              </a:rPr>
              <a:t>If you touch code in Cursor or Claude Code, this deck is for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3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11535" cy="35661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E20074"/>
                </a:solidFill>
                <a:latin typeface="TeleNeo"/>
              </a:rPr>
              <a:t>•  </a:t>
            </a:r>
            <a:r>
              <a:rPr sz="1700" b="1">
                <a:solidFill>
                  <a:srgbClr val="E20074"/>
                </a:solidFill>
                <a:latin typeface="TeleNeo"/>
              </a:rPr>
              <a:t>What it is</a:t>
            </a:r>
            <a:r>
              <a:rPr sz="1700" b="0">
                <a:solidFill>
                  <a:srgbClr val="FFFFFF"/>
                </a:solidFill>
                <a:latin typeface="TeleNeo"/>
              </a:rPr>
              <a:t>  — a template repository you drop into any project.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E20074"/>
                </a:solidFill>
                <a:latin typeface="TeleNeo"/>
              </a:rPr>
              <a:t>•  </a:t>
            </a:r>
            <a:r>
              <a:rPr sz="1700" b="1">
                <a:solidFill>
                  <a:srgbClr val="E20074"/>
                </a:solidFill>
                <a:latin typeface="TeleNeo"/>
              </a:rPr>
              <a:t>What it does</a:t>
            </a:r>
            <a:r>
              <a:rPr sz="1700" b="0">
                <a:solidFill>
                  <a:srgbClr val="FFFFFF"/>
                </a:solidFill>
                <a:latin typeface="TeleNeo"/>
              </a:rPr>
              <a:t>  — makes Cursor and Claude Code read persistent project context, follow a 3-tier security model, enforce code-quality and logging standards, run a structured feature workflow, and orchestrate a multi-agent code review.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E20074"/>
                </a:solidFill>
                <a:latin typeface="TeleNeo"/>
              </a:rPr>
              <a:t>•  </a:t>
            </a:r>
            <a:r>
              <a:rPr sz="1700" b="1">
                <a:solidFill>
                  <a:srgbClr val="E20074"/>
                </a:solidFill>
                <a:latin typeface="TeleNeo"/>
              </a:rPr>
              <a:t>Why it matters</a:t>
            </a:r>
            <a:r>
              <a:rPr sz="1700" b="0">
                <a:solidFill>
                  <a:srgbClr val="FFFFFF"/>
                </a:solidFill>
                <a:latin typeface="TeleNeo"/>
              </a:rPr>
              <a:t>  — fewer secrets committed, fewer inconsistent rewrites, fewer missed tests, faster onboarding, and review coverage that doesn't depend on one reviewer catching everything.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E20074"/>
                </a:solidFill>
                <a:latin typeface="TeleNeo"/>
              </a:rPr>
              <a:t>•  </a:t>
            </a:r>
            <a:r>
              <a:rPr sz="1700" b="1">
                <a:solidFill>
                  <a:srgbClr val="E20074"/>
                </a:solidFill>
                <a:latin typeface="TeleNeo"/>
              </a:rPr>
              <a:t>How fast</a:t>
            </a:r>
            <a:r>
              <a:rPr sz="1700" b="0">
                <a:solidFill>
                  <a:srgbClr val="FFFFFF"/>
                </a:solidFill>
                <a:latin typeface="TeleNeo"/>
              </a:rPr>
              <a:t>  — productive in under 15 minutes per project. One-liner install on Windows or Mac.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532120"/>
            <a:ext cx="45720" cy="77724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62895" cy="6400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Five standards · IDE rule files · setup scripts · training materials · multi-agent /code-review.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4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AI assistants forget. Standards drift. One-pass reviews miss things.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548640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512064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Without memory-bank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120640" cy="31089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✕  </a:t>
            </a:r>
            <a:r>
              <a:rPr sz="1300" b="1">
                <a:solidFill>
                  <a:srgbClr val="FFFFFF"/>
                </a:solidFill>
                <a:latin typeface="TeleNeo"/>
              </a:rPr>
              <a:t>AI forgets context</a:t>
            </a:r>
            <a:r>
              <a:rPr sz="1300" b="0">
                <a:solidFill>
                  <a:srgbClr val="E8E8E8"/>
                </a:solidFill>
                <a:latin typeface="TeleNeo"/>
              </a:rPr>
              <a:t>  between sessions; you re-explain the stack every time.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✕  </a:t>
            </a:r>
            <a:r>
              <a:rPr sz="1300" b="1">
                <a:solidFill>
                  <a:srgbClr val="FFFFFF"/>
                </a:solidFill>
                <a:latin typeface="TeleNeo"/>
              </a:rPr>
              <a:t>Different results per user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one dev gets secure code, another commits a secret.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✕  </a:t>
            </a:r>
            <a:r>
              <a:rPr sz="1300" b="1">
                <a:solidFill>
                  <a:srgbClr val="FFFFFF"/>
                </a:solidFill>
                <a:latin typeface="TeleNeo"/>
              </a:rPr>
              <a:t>Standards drift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security, logging, quality inconsistently applied.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✕  </a:t>
            </a:r>
            <a:r>
              <a:rPr sz="1300" b="1">
                <a:solidFill>
                  <a:srgbClr val="FFFFFF"/>
                </a:solidFill>
                <a:latin typeface="TeleNeo"/>
              </a:rPr>
              <a:t>One-pass reviews miss things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a single reviewer can't cover everything equally.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574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057400"/>
            <a:ext cx="548640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12848"/>
            <a:ext cx="512064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With memory-bank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5120640" cy="31089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•  </a:t>
            </a:r>
            <a:r>
              <a:rPr sz="1300" b="1">
                <a:solidFill>
                  <a:srgbClr val="FFFFFF"/>
                </a:solidFill>
                <a:latin typeface="TeleNeo"/>
              </a:rPr>
              <a:t>Context persists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5 files the AI reads at every session start.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•  </a:t>
            </a:r>
            <a:r>
              <a:rPr sz="1300" b="1">
                <a:solidFill>
                  <a:srgbClr val="FFFFFF"/>
                </a:solidFill>
                <a:latin typeface="TeleNeo"/>
              </a:rPr>
              <a:t>Same defaults for everyone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rule files install globally or per-project.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•  </a:t>
            </a:r>
            <a:r>
              <a:rPr sz="1300" b="1">
                <a:solidFill>
                  <a:srgbClr val="FFFFFF"/>
                </a:solidFill>
                <a:latin typeface="TeleNeo"/>
              </a:rPr>
              <a:t>Standards auto-enforced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security, quality, logging, workflow.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•  </a:t>
            </a:r>
            <a:r>
              <a:rPr sz="1300" b="1">
                <a:solidFill>
                  <a:srgbClr val="FFFFFF"/>
                </a:solidFill>
                <a:latin typeface="TeleNeo"/>
              </a:rPr>
              <a:t>Multi-agent /code-review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parallel role reviewers + tests + auditor compare.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5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Solution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Nine pieces, one template repository.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370332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103120"/>
            <a:ext cx="45720" cy="1097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31136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12848"/>
            <a:ext cx="28803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Persistent memory-bank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78608"/>
            <a:ext cx="2880360" cy="5486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Five structured files the AI reads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103120"/>
            <a:ext cx="370332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103120"/>
            <a:ext cx="45720" cy="1097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31136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212848"/>
            <a:ext cx="28803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3-tier security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578608"/>
            <a:ext cx="2880360" cy="5486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BLOCK / CONFIRM / WARN classifications.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103120"/>
            <a:ext cx="370332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7304" y="2103120"/>
            <a:ext cx="45720" cy="1097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231136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2212848"/>
            <a:ext cx="28803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Code quality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2578608"/>
            <a:ext cx="2880360" cy="5486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Run tests before done; WHY-only comments.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10127"/>
            <a:ext cx="370332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310127"/>
            <a:ext cx="45720" cy="1097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438144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419856"/>
            <a:ext cx="28803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Accessibility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785615"/>
            <a:ext cx="2880360" cy="5486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WCAG 2.1 AA — glob-scoped Cursor rule + /accessibility-review audit.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0832" y="3310127"/>
            <a:ext cx="370332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0832" y="3310127"/>
            <a:ext cx="45720" cy="1097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438144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3419856"/>
            <a:ext cx="28803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Structured logging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3785615"/>
            <a:ext cx="2880360" cy="5486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JSON, correlation IDs, auto-PII redaction.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47304" y="3310127"/>
            <a:ext cx="370332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47304" y="3310127"/>
            <a:ext cx="45720" cy="1097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2" y="3438144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419856"/>
            <a:ext cx="28803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Feature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3104" y="3785615"/>
            <a:ext cx="2880360" cy="5486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Brainstorm → spec → plan → implement → review.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517136"/>
            <a:ext cx="370332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4517136"/>
            <a:ext cx="45720" cy="1097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4645151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626864"/>
            <a:ext cx="28803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IDE rule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992623"/>
            <a:ext cx="2880360" cy="5486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Cursor .mdc + Claude Code CLAUDE.md / slash commands.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70832" y="4517136"/>
            <a:ext cx="370332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70832" y="4517136"/>
            <a:ext cx="45720" cy="1097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4645151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56632" y="4626864"/>
            <a:ext cx="28803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Setup scripts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56632" y="4992623"/>
            <a:ext cx="2880360" cy="5486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Windows/Mac/Linux one-liners.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47304" y="4517136"/>
            <a:ext cx="370332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47304" y="4517136"/>
            <a:ext cx="45720" cy="1097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48472" y="4645151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33104" y="4626864"/>
            <a:ext cx="28803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Multi-agent /code-review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33104" y="4992623"/>
            <a:ext cx="2880360" cy="5486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Security · Performance · Style + tests + auditor.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6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Persistent memory-bank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A project notebook the AI reads before helping.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881359" cy="502919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01752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79" y="2176272"/>
            <a:ext cx="557784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176272"/>
            <a:ext cx="21945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Update when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10881359" cy="502919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301752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projectbrief.md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2743200"/>
            <a:ext cx="557784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Non-negotiable requirements and constraints.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743200"/>
            <a:ext cx="21945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Rarely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301752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systemPatterns.md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79" y="3291840"/>
            <a:ext cx="557784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Architecture decisions and patterns to follow.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291840"/>
            <a:ext cx="21945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New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39"/>
            <a:ext cx="10881359" cy="502919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40479"/>
            <a:ext cx="301752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techContext.md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79" y="3840479"/>
            <a:ext cx="557784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Tech stack, dependencies, environment.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840479"/>
            <a:ext cx="21945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Tech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89119"/>
            <a:ext cx="301752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activeContext.md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79" y="4389119"/>
            <a:ext cx="557784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Current focus and immediate next steps.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389119"/>
            <a:ext cx="21945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Every session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46320"/>
            <a:ext cx="10881359" cy="502919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37759"/>
            <a:ext cx="301752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progress.md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79" y="4937759"/>
            <a:ext cx="557784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What's complete, in progress, planned.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937759"/>
            <a:ext cx="21945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Milestones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40680"/>
            <a:ext cx="10911535" cy="6400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440680"/>
            <a:ext cx="45720" cy="6400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04688"/>
            <a:ext cx="10362895" cy="5029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Rule: "At the start of every conversation (and after context compaction), silently read ALL files in memory-bank/." (templates/CLAUDE.md, line 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7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Handoff: Seamless Across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Memory-bank reads automatically. Handoff bridges sessions when context fills up. You never manually re-explain.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6858000" cy="4114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685800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6583680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The seamless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65836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20074"/>
                </a:solidFill>
                <a:latin typeface="Consolas"/>
              </a:rPr>
              <a:t>Session 1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    AI reads memory-bank/ automatically (no action)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    You work. AI tracks decisions, patterns, progress.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    Context gets full.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20074"/>
                </a:solidFill>
                <a:latin typeface="Consolas"/>
              </a:rPr>
              <a:t>    You type: "Handoff"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    AI writes handoff.md with session state, then stops.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E20074"/>
                </a:solidFill>
                <a:latin typeface="Consolas"/>
              </a:rPr>
              <a:t>Session 2 (fresh chat)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    AI reads memory-bank/ automatically (still no action)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    AI sees handoff.md, reads it, merges into memory-bank.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    AI deletes handoff.md.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    AI continues exactly where you left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965960"/>
            <a:ext cx="3886200" cy="4114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965960"/>
            <a:ext cx="388620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084831"/>
            <a:ext cx="3566160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Threshold by 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606040"/>
            <a:ext cx="1828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Claude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606040"/>
            <a:ext cx="1828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65%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971800"/>
            <a:ext cx="3611880" cy="10058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Auto-compacts at ~75% — handoff fires before that so nothing is lost.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114800"/>
            <a:ext cx="1828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Cursor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114800"/>
            <a:ext cx="1828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480560"/>
            <a:ext cx="3611880" cy="10058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Rules re-inject every response; 80% is safe.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126480"/>
            <a:ext cx="10911535" cy="36576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10545775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eleNeo"/>
              </a:rPr>
              <a:t>What you do:  Type "Handoff" near the context threshold. Memory-bank reading is automatic.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8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3-tier security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Stop dangerous defaults before they 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3703320" cy="42976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3703320" cy="68580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3154679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eleNeo"/>
              </a:rP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3154679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TeleNeo"/>
              </a:rPr>
              <a:t>I will refuse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3429000" cy="33375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Commit secrets (.env, API keys, *.pem, *.key)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Force-push to main/master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Destructive system commands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Slopsquat packages (unverified on registry)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Hardcode credentials in mcp.json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Expose secrets in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011680"/>
            <a:ext cx="3703320" cy="42976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2011680"/>
            <a:ext cx="3703320" cy="685800"/>
          </a:xfrm>
          <a:prstGeom prst="roundRect">
            <a:avLst>
              <a:gd name="adj" fmla="val 5000"/>
            </a:avLst>
          </a:prstGeom>
          <a:solidFill>
            <a:srgbClr val="861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103120"/>
            <a:ext cx="3154679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eleNeo"/>
              </a:rPr>
              <a:t>CONFIRM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95728"/>
            <a:ext cx="3154679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TeleNeo"/>
              </a:rPr>
              <a:t>I will ask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880360"/>
            <a:ext cx="3429000" cy="33375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Delete any files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Bulk operations on &gt; 3 files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Amend commits / skip git hooks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Force-push any branch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DROP / DELETE without WHERE / TRUNCATE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Modify CI/CD or auth/permission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011680"/>
            <a:ext cx="3703320" cy="42976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7304" y="2011680"/>
            <a:ext cx="3703320" cy="685800"/>
          </a:xfrm>
          <a:prstGeom prst="roundRect">
            <a:avLst>
              <a:gd name="adj" fmla="val 5000"/>
            </a:avLst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2103120"/>
            <a:ext cx="3154679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eleNeo"/>
              </a:rPr>
              <a:t>WARN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2395728"/>
            <a:ext cx="3154679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TeleNeo"/>
              </a:rPr>
              <a:t>I will note the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880360"/>
            <a:ext cx="3429000" cy="33375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Large changes (&gt; 5 files or &gt; 200 lines)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Creating new files when editing works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Missing tests for new functionality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0">
                <a:solidFill>
                  <a:srgbClr val="FFFFFF"/>
                </a:solidFill>
                <a:latin typeface="TeleNeo"/>
              </a:rPr>
              <a:t>Skipping verification before completion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9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Code quality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Consistent AI-generated code by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486400" cy="38404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Before claiming done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1. Run tests and report results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2. Check for lint errors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3. Verify build succeeds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4. Describe what was tested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TeleNeo"/>
              </a:rPr>
              <a:t/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Comments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WHY only — never obvious WHAT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No commented-out code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Document breaking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38404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Error handling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Handle all error cases explicitly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Meaningful messages with context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Never swallow exceptions silently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TeleNeo"/>
              </a:rPr>
              <a:t/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Structure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Imports at top; each function does one thing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Prefer editing existing files over new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Small incremental changes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›  </a:t>
            </a:r>
            <a:r>
              <a:rPr sz="1400" b="0">
                <a:solidFill>
                  <a:srgbClr val="FFFFFF"/>
                </a:solidFill>
                <a:latin typeface="TeleNeo"/>
              </a:rPr>
              <a:t>Extensions: Python · TypeScript · template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23560"/>
            <a:ext cx="10911535" cy="685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623560"/>
            <a:ext cx="45720" cy="6858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10362895" cy="5029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Targets: &gt; 80% test coverage on new code · 0 lint errors · &gt; 90% type coverage · function complexity &lt; 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Accessibility (WCAG 2.1 Level AA)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UI code only. Auto-applies via glob-scoped Cursor rule. On-demand audit via /accessibility-review.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48640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5120640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E20074"/>
                </a:solidFill>
                <a:latin typeface="TeleNeo"/>
              </a:rPr>
              <a:t>Always-on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12064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.cursor/rules/accessibility.mdc  (glob-scoped)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34640"/>
            <a:ext cx="45720" cy="1097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44368"/>
            <a:ext cx="4846320" cy="877824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.html  .htm    .jsx   .tsx
.vue   .svelte .astro
.css   .scss   .sass  .less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6596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65960"/>
            <a:ext cx="548640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084831"/>
            <a:ext cx="5120640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E20074"/>
                </a:solidFill>
                <a:latin typeface="TeleNeo"/>
              </a:rPr>
              <a:t>On-demand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14600"/>
            <a:ext cx="5120640" cy="14173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E20074"/>
                </a:solidFill>
                <a:latin typeface="TeleNeo"/>
              </a:rPr>
              <a:t>•  </a:t>
            </a:r>
            <a:r>
              <a:rPr sz="1100" b="1">
                <a:solidFill>
                  <a:srgbClr val="FFFFFF"/>
                </a:solidFill>
                <a:latin typeface="Consolas"/>
              </a:rPr>
              <a:t>/accessibility-review</a:t>
            </a:r>
            <a:r>
              <a:rPr sz="1100" b="0">
                <a:solidFill>
                  <a:srgbClr val="E8E8E8"/>
                </a:solidFill>
                <a:latin typeface="TeleNeo"/>
              </a:rPr>
              <a:t>  scans diff, file, or folder.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E20074"/>
                </a:solidFill>
                <a:latin typeface="TeleNeo"/>
              </a:rPr>
              <a:t>•  </a:t>
            </a:r>
            <a:r>
              <a:rPr sz="1100" b="0">
                <a:solidFill>
                  <a:srgbClr val="E8E8E8"/>
                </a:solidFill>
                <a:latin typeface="TeleNeo"/>
              </a:rPr>
              <a:t>Emits severity-rated findings (</a:t>
            </a:r>
            <a:r>
              <a:rPr sz="1100" b="1">
                <a:solidFill>
                  <a:srgbClr val="FFFFFF"/>
                </a:solidFill>
                <a:latin typeface="TeleNeo"/>
              </a:rPr>
              <a:t>CRITICAL · HIGH · MEDIUM · LOW</a:t>
            </a:r>
            <a:r>
              <a:rPr sz="1100" b="0">
                <a:solidFill>
                  <a:srgbClr val="E8E8E8"/>
                </a:solidFill>
                <a:latin typeface="TeleNeo"/>
              </a:rPr>
              <a:t>) × nine dimensions.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E20074"/>
                </a:solidFill>
                <a:latin typeface="TeleNeo"/>
              </a:rPr>
              <a:t>•  </a:t>
            </a:r>
            <a:r>
              <a:rPr sz="1100" b="0">
                <a:solidFill>
                  <a:srgbClr val="E8E8E8"/>
                </a:solidFill>
                <a:latin typeface="TeleNeo"/>
              </a:rPr>
              <a:t>Ships a remediation checklist with code-level fixes.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E20074"/>
                </a:solidFill>
                <a:latin typeface="TeleNeo"/>
              </a:rPr>
              <a:t>Nine dimensions — all hard requirements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17720"/>
            <a:ext cx="3703320" cy="566928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45720" cy="5669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72583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Semantic 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10328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Native elements; heading hierarchy; landmarks.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617720"/>
            <a:ext cx="3703320" cy="566928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617720"/>
            <a:ext cx="45720" cy="5669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672583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ARIA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910328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Native first; never override; aria-live for dynamic.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4617720"/>
            <a:ext cx="3703320" cy="566928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4617720"/>
            <a:ext cx="45720" cy="5669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4672583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Keyboard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910328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Reachable; tab order; focus trap; skip-nav.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239512"/>
            <a:ext cx="3703320" cy="566928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239512"/>
            <a:ext cx="45720" cy="5669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294375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Focus indicators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32120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Custom outline ≥ 3:1 contrast.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5239512"/>
            <a:ext cx="3703320" cy="566928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5239512"/>
            <a:ext cx="45720" cy="5669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5294375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Color &amp; contrast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532120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4.5:1 normal; 3:1 large; not color-only.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59" y="5239512"/>
            <a:ext cx="3703320" cy="566928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59" y="5239512"/>
            <a:ext cx="45720" cy="5669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5294375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Forms &amp; inputs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9" y="5532120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Programmatic labels; aria-describedby errors.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861304"/>
            <a:ext cx="3703320" cy="566928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5861304"/>
            <a:ext cx="45720" cy="5669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916168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Images &amp; media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153912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alt text; captions; transcripts.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5861304"/>
            <a:ext cx="3703320" cy="566928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89120" y="5861304"/>
            <a:ext cx="45720" cy="5669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5916168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Motion &amp; animation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6153912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prefers-reduced-motion; no &gt; 3× flashing.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59" y="5861304"/>
            <a:ext cx="3703320" cy="566928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38159" y="5861304"/>
            <a:ext cx="45720" cy="5669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19" y="5916168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Testing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19" y="6153912"/>
            <a:ext cx="34290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NVDA / JAWS / VoiceOver; accessibility tree.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11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Enterprise Hygiene (v1.5)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Six guardrails that ship with the standard. Each one prevents a real incident — prompt injection, leaked creds, rogue models, or runaway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623560" cy="14173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45720" cy="14173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5623560" cy="32004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011679"/>
            <a:ext cx="52578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Rules-file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77440"/>
            <a:ext cx="5257800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Anti-prompt-injection for .cursorrules / CLAUDE.md / AGENTS.md / .mdc / slash-command .md. Glob-scoped rule fires on-open. Rejects invisible Unicode, hidden HTML, guardrail-bypass phrasing.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08960"/>
            <a:ext cx="5257800" cy="2286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E20074"/>
                </a:solidFill>
                <a:latin typeface="Consolas"/>
              </a:rPr>
              <a:t>standards/RULES-FILE-INTEGRITY.md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65960"/>
            <a:ext cx="5623560" cy="14173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965960"/>
            <a:ext cx="45720" cy="14173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965960"/>
            <a:ext cx="5623560" cy="32004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11679"/>
            <a:ext cx="52578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Data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5257800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Four tiers (Public / Internal / Confidential / Restricted) with per-destination rules for prompts, memory-bank, logs, commits, issues. Default upward when unclear.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08960"/>
            <a:ext cx="5257800" cy="2286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E20074"/>
                </a:solidFill>
                <a:latin typeface="Consolas"/>
              </a:rPr>
              <a:t>standards/DATA-CLASSIFICATION.md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5623560" cy="14173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45720" cy="14173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474720"/>
            <a:ext cx="5623560" cy="32004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520439"/>
            <a:ext cx="52578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Ephemeral 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886200"/>
            <a:ext cx="5257800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Vault / AWS SM / Azure KV. No long-lived creds in agent env. Rotate after sessions. Motivated by LiteLLM breach (March 2026).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617720"/>
            <a:ext cx="5257800" cy="2286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E20074"/>
                </a:solidFill>
                <a:latin typeface="Consolas"/>
              </a:rPr>
              <a:t>standards/SECRETS.md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474720"/>
            <a:ext cx="5623560" cy="14173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474720"/>
            <a:ext cx="45720" cy="14173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3474720"/>
            <a:ext cx="5623560" cy="320040"/>
          </a:xfrm>
          <a:prstGeom prst="roundRect">
            <a:avLst>
              <a:gd name="adj" fmla="val 5000"/>
            </a:avLst>
          </a:prstGeom>
          <a:solidFill>
            <a:srgbClr val="861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520439"/>
            <a:ext cx="52578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OWASP LLM Top 10 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886200"/>
            <a:ext cx="5257800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All 10 LLM risks mapped to Memory-Bank controls + residual gaps. LLM04/07/08/09 flagged for future passes.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617720"/>
            <a:ext cx="5257800" cy="2286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E20074"/>
                </a:solidFill>
                <a:latin typeface="Consolas"/>
              </a:rPr>
              <a:t>standards/LLM-TOP-10-MAPPING.md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83480"/>
            <a:ext cx="5623560" cy="14173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983480"/>
            <a:ext cx="45720" cy="14173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983480"/>
            <a:ext cx="5623560" cy="320040"/>
          </a:xfrm>
          <a:prstGeom prst="roundRect">
            <a:avLst>
              <a:gd name="adj" fmla="val 5000"/>
            </a:avLst>
          </a:prstGeom>
          <a:solidFill>
            <a:srgbClr val="861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029200"/>
            <a:ext cx="52578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Model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394960"/>
            <a:ext cx="5257800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Approved list: Opus 4.7 / Sonnet 4.6 / Haiku 4.5 ✅, GPT requires approval ⚠️, HF public ❌. Version pinning. Canary + review for model upgrades.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6126480"/>
            <a:ext cx="5257800" cy="2286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E20074"/>
                </a:solidFill>
                <a:latin typeface="Consolas"/>
              </a:rPr>
              <a:t>standards/MODEL-GOVERNANCE.md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983480"/>
            <a:ext cx="5623560" cy="14173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4983480"/>
            <a:ext cx="45720" cy="14173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55080" y="4983480"/>
            <a:ext cx="5623560" cy="320040"/>
          </a:xfrm>
          <a:prstGeom prst="roundRect">
            <a:avLst>
              <a:gd name="adj" fmla="val 5000"/>
            </a:avLst>
          </a:prstGeom>
          <a:solidFill>
            <a:srgbClr val="861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029200"/>
            <a:ext cx="525780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Incident runbook + agent controls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394960"/>
            <a:ext cx="5257800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TeleNeo"/>
              </a:rPr>
              <a:t>SEV 1–4 template with AI-involvement checklist. Plus token budgets, loop detection (pause after 3 identical tool calls), 429 handling, MCP monitoring.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6126480"/>
            <a:ext cx="5257800" cy="2286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E20074"/>
                </a:solidFill>
                <a:latin typeface="Consolas"/>
              </a:rPr>
              <a:t>templates/INCIDENT-RUNBOOK.md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943600"/>
            <a:ext cx="10911535" cy="457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5943600"/>
            <a:ext cx="45720" cy="4572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6007608"/>
            <a:ext cx="1054577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eleNeo"/>
              </a:rPr>
              <a:t>Coverage mapped to OWASP LLM Top 10 (2025). Known gaps tracked in standards/LLM-TOP-10-MAPPING.md — see that file for residual items and planned passes.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Structured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Queryable logs. No secrets. Correlation across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48640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486400" cy="31089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•  </a:t>
            </a:r>
            <a:r>
              <a:rPr sz="1300" b="1">
                <a:solidFill>
                  <a:srgbClr val="FFFFFF"/>
                </a:solidFill>
                <a:latin typeface="TeleNeo"/>
              </a:rPr>
              <a:t>Incident response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filter by user_id / order_id / correlation_id.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•  </a:t>
            </a:r>
            <a:r>
              <a:rPr sz="1300" b="1">
                <a:solidFill>
                  <a:srgbClr val="FFFFFF"/>
                </a:solidFill>
                <a:latin typeface="TeleNeo"/>
              </a:rPr>
              <a:t>SRE / on-call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JSON logs feed log aggregators directly.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•  </a:t>
            </a:r>
            <a:r>
              <a:rPr sz="1300" b="1">
                <a:solidFill>
                  <a:srgbClr val="FFFFFF"/>
                </a:solidFill>
                <a:latin typeface="TeleNeo"/>
              </a:rPr>
              <a:t>Compliance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PII auto-redacted before hitting disk.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20074"/>
                </a:solidFill>
                <a:latin typeface="TeleNeo"/>
              </a:rPr>
              <a:t>•  </a:t>
            </a:r>
            <a:r>
              <a:rPr sz="1300" b="1">
                <a:solidFill>
                  <a:srgbClr val="FFFFFF"/>
                </a:solidFill>
                <a:latin typeface="TeleNeo"/>
              </a:rPr>
              <a:t>Noise reduction</a:t>
            </a:r>
            <a:r>
              <a:rPr sz="1300" b="0">
                <a:solidFill>
                  <a:srgbClr val="E8E8E8"/>
                </a:solidFill>
                <a:latin typeface="TeleNeo"/>
              </a:rPr>
              <a:t>  — skip /health and /ready by default.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39496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Required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1460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514600"/>
            <a:ext cx="45720" cy="310896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624328"/>
            <a:ext cx="5120640" cy="2889504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# GOOD — structured, queryable
logger.info("order_created",
    order_id="ORD-123",
    total=149.99)
# BAD — string concatenation
logger.info(f"Order {id} done")
# correlation ID
logger = logger.bind(
    correlation_id=req_id)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60720"/>
            <a:ext cx="10911535" cy="5486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760720"/>
            <a:ext cx="45720" cy="54864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10362895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Python: structlog  ·  TypeScript: pino  ·  Env: LOG_LEVEL · LOG_FORMAT=json · LOG_SKIP_PATHS · LOG_CORRELATION_HEADER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13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Feature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Prevents the #1 AI failure mode: writing code before understanding the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eleNeo"/>
              </a:rPr>
              <a:t>Brainstorm</a:t>
            </a:r>
            <a:r>
              <a:rPr sz="1600" b="0">
                <a:solidFill>
                  <a:srgbClr val="E8E8E8"/>
                </a:solidFill>
                <a:latin typeface="TeleNeo"/>
              </a:rPr>
              <a:t>  →  </a:t>
            </a:r>
            <a:r>
              <a:rPr sz="1600" b="1">
                <a:solidFill>
                  <a:srgbClr val="FFFFFF"/>
                </a:solidFill>
                <a:latin typeface="TeleNeo"/>
              </a:rPr>
              <a:t>Spec</a:t>
            </a:r>
            <a:r>
              <a:rPr sz="1600" b="0">
                <a:solidFill>
                  <a:srgbClr val="E8E8E8"/>
                </a:solidFill>
                <a:latin typeface="TeleNeo"/>
              </a:rPr>
              <a:t>  →  </a:t>
            </a:r>
            <a:r>
              <a:rPr sz="1600" b="1">
                <a:solidFill>
                  <a:srgbClr val="FFFFFF"/>
                </a:solidFill>
                <a:latin typeface="TeleNeo"/>
              </a:rPr>
              <a:t>Plan</a:t>
            </a:r>
            <a:r>
              <a:rPr sz="1600" b="0">
                <a:solidFill>
                  <a:srgbClr val="E8E8E8"/>
                </a:solidFill>
                <a:latin typeface="TeleNeo"/>
              </a:rPr>
              <a:t>  →  </a:t>
            </a:r>
            <a:r>
              <a:rPr sz="1600" b="1">
                <a:solidFill>
                  <a:srgbClr val="E20074"/>
                </a:solidFill>
                <a:latin typeface="TeleNeo"/>
              </a:rPr>
              <a:t>Implement (TDD)</a:t>
            </a:r>
            <a:r>
              <a:rPr sz="1600" b="0">
                <a:solidFill>
                  <a:srgbClr val="E8E8E8"/>
                </a:solidFill>
                <a:latin typeface="TeleNeo"/>
              </a:rPr>
              <a:t>  →  </a:t>
            </a:r>
            <a:r>
              <a:rPr sz="1600" b="1">
                <a:solidFill>
                  <a:srgbClr val="FFFFFF"/>
                </a:solidFill>
                <a:latin typeface="TeleNeo"/>
              </a:rPr>
              <a:t>Simplify</a:t>
            </a:r>
            <a:r>
              <a:rPr sz="1600" b="0">
                <a:solidFill>
                  <a:srgbClr val="E8E8E8"/>
                </a:solidFill>
                <a:latin typeface="TeleNeo"/>
              </a:rPr>
              <a:t>  →  </a:t>
            </a:r>
            <a:r>
              <a:rPr sz="1600" b="1">
                <a:solidFill>
                  <a:srgbClr val="FFFFFF"/>
                </a:solidFill>
                <a:latin typeface="TeleNeo"/>
              </a:rPr>
              <a:t>Security Review</a:t>
            </a:r>
            <a:r>
              <a:rPr sz="1600" b="0">
                <a:solidFill>
                  <a:srgbClr val="E8E8E8"/>
                </a:solidFill>
                <a:latin typeface="TeleNeo"/>
              </a:rPr>
              <a:t>  →  </a:t>
            </a:r>
            <a:r>
              <a:rPr sz="1600" b="1">
                <a:solidFill>
                  <a:srgbClr val="FFFFFF"/>
                </a:solidFill>
                <a:latin typeface="TeleNeo"/>
              </a:rPr>
              <a:t>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621792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E20074"/>
                </a:solidFill>
                <a:latin typeface="TeleNeo"/>
              </a:rPr>
              <a:t>Each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Brainstorm</a:t>
            </a:r>
            <a:r>
              <a:rPr sz="1200" b="0">
                <a:solidFill>
                  <a:srgbClr val="E8E8E8"/>
                </a:solidFill>
                <a:latin typeface="TeleNeo"/>
              </a:rPr>
              <a:t>  —  explore, propose 2–3 approaches.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Spec</a:t>
            </a:r>
            <a:r>
              <a:rPr sz="1200" b="0">
                <a:solidFill>
                  <a:srgbClr val="E8E8E8"/>
                </a:solidFill>
                <a:latin typeface="TeleNeo"/>
              </a:rPr>
              <a:t>  —  write validated design to docs/specs/.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7530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Plan</a:t>
            </a:r>
            <a:r>
              <a:rPr sz="1200" b="0">
                <a:solidFill>
                  <a:srgbClr val="E8E8E8"/>
                </a:solidFill>
                <a:latin typeface="TeleNeo"/>
              </a:rPr>
              <a:t>  —  bite-sized plan, exact file paths.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7705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0074"/>
                </a:solidFill>
                <a:latin typeface="TeleNeo"/>
              </a:rPr>
              <a:t>Implement</a:t>
            </a:r>
            <a:r>
              <a:rPr sz="1200" b="0">
                <a:solidFill>
                  <a:srgbClr val="E8E8E8"/>
                </a:solidFill>
                <a:latin typeface="TeleNeo"/>
              </a:rPr>
              <a:t>  —  TDD: failing test → code → green.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7880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Simplify</a:t>
            </a:r>
            <a:r>
              <a:rPr sz="1200" b="0">
                <a:solidFill>
                  <a:srgbClr val="E8E8E8"/>
                </a:solidFill>
                <a:latin typeface="TeleNeo"/>
              </a:rPr>
              <a:t>  —  clarity review, no behavior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Security Review</a:t>
            </a:r>
            <a:r>
              <a:rPr sz="1200" b="0">
                <a:solidFill>
                  <a:srgbClr val="E8E8E8"/>
                </a:solidFill>
                <a:latin typeface="TeleNeo"/>
              </a:rPr>
              <a:t>  —  scan for 9 patterns.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8231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Commit</a:t>
            </a:r>
            <a:r>
              <a:rPr sz="1200" b="0">
                <a:solidFill>
                  <a:srgbClr val="E8E8E8"/>
                </a:solidFill>
                <a:latin typeface="TeleNeo"/>
              </a:rPr>
              <a:t>  —  descriptive message; push.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606040"/>
            <a:ext cx="466344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E20074"/>
                </a:solidFill>
                <a:latin typeface="TeleNeo"/>
              </a:rPr>
              <a:t>Skip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971800"/>
            <a:ext cx="466344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TeleNeo"/>
              </a:rPr>
              <a:t>Jump straight to Implement for: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46120"/>
            <a:ext cx="4480560" cy="237744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•  Single-file fixes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02152"/>
            <a:ext cx="4480560" cy="237744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•  Typos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758183"/>
            <a:ext cx="4480560" cy="237744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•  Config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14215"/>
            <a:ext cx="4480560" cy="237744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•  Changes under 20 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526280"/>
            <a:ext cx="466344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E20074"/>
                </a:solidFill>
                <a:latin typeface="TeleNeo"/>
              </a:rPr>
              <a:t>How to trigger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8463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TeleNeo"/>
              </a:rPr>
              <a:t>Claude Code: </a:t>
            </a:r>
            <a:r>
              <a:rPr sz="1200" b="0">
                <a:solidFill>
                  <a:srgbClr val="E8E8E8"/>
                </a:solidFill>
                <a:latin typeface="TeleNeo"/>
              </a:rPr>
              <a:t>/feature-dev runs the full 7-phase flow.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TeleNeo"/>
              </a:rPr>
              <a:t>Cursor: </a:t>
            </a:r>
            <a:r>
              <a:rPr sz="1200" b="0">
                <a:solidFill>
                  <a:srgbClr val="E8E8E8"/>
                </a:solidFill>
                <a:latin typeface="TeleNeo"/>
              </a:rPr>
              <a:t>.cursor/rules/workflow.mdc enforces it automatically.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14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Multi-agent /code-review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Three role-separated reviewers. Uncorrelated contexts. No cross-bias.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3703320" cy="38404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3703320" cy="59436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30552"/>
            <a:ext cx="33375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429000" cy="26974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Hardcoded secrets, tokens, passwords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SQL / NoSQL injection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Broken auth / missing authorization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Exposed errors, stack traces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Weak crypto; eval / exec / shell=True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Sensitive data in logs /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333756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1">
                <a:solidFill>
                  <a:srgbClr val="E8E8E8"/>
                </a:solidFill>
                <a:latin typeface="TeleNeo"/>
              </a:rPr>
              <a:t>CRITICAL · HIGH · MEDIUM · 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011680"/>
            <a:ext cx="3703320" cy="38404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2011680"/>
            <a:ext cx="3703320" cy="594360"/>
          </a:xfrm>
          <a:prstGeom prst="roundRect">
            <a:avLst>
              <a:gd name="adj" fmla="val 5000"/>
            </a:avLst>
          </a:prstGeom>
          <a:solidFill>
            <a:srgbClr val="861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130552"/>
            <a:ext cx="33375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743200"/>
            <a:ext cx="3429000" cy="26974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N+1 queries, loops over the DB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Unbounded loops / recursion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Large payloads held in memory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Blocking I/O in async paths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Repeated work that could be cached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Missing pagination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5486400"/>
            <a:ext cx="333756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1">
                <a:solidFill>
                  <a:srgbClr val="E8E8E8"/>
                </a:solidFill>
                <a:latin typeface="TeleNeo"/>
              </a:rPr>
              <a:t>HIGH · MEDIUM · 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011680"/>
            <a:ext cx="3703320" cy="38404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7304" y="2011680"/>
            <a:ext cx="3703320" cy="594360"/>
          </a:xfrm>
          <a:prstGeom prst="roundRect">
            <a:avLst>
              <a:gd name="adj" fmla="val 5000"/>
            </a:avLst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3" y="2130552"/>
            <a:ext cx="33375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Style &amp; Standards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743200"/>
            <a:ext cx="3429000" cy="26974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Functions &gt; 50 lines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Deeply nested logic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Ambiguous names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Missing WHY comments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Dead code / debug statements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E20074"/>
                </a:solidFill>
                <a:latin typeface="TeleNeo"/>
              </a:rPr>
              <a:t>•  </a:t>
            </a:r>
            <a:r>
              <a:rPr sz="1000" b="0">
                <a:solidFill>
                  <a:srgbClr val="FFFFFF"/>
                </a:solidFill>
                <a:latin typeface="TeleNeo"/>
              </a:rPr>
              <a:t>Magic numbers; copy-paste dup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5486400"/>
            <a:ext cx="333756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1">
                <a:solidFill>
                  <a:srgbClr val="E8E8E8"/>
                </a:solidFill>
                <a:latin typeface="TeleNeo"/>
              </a:rPr>
              <a:t>MEDIUM · 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989320"/>
            <a:ext cx="11002975" cy="4572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5989320"/>
            <a:ext cx="45720" cy="4572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TeleNeo"/>
              </a:rPr>
              <a:t>"Each subagent sees only the code and its own lens — not the other subagents' findings."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15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Test coverage + opponent auditor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The 'compare' step that makes role-separated review trustworthy.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5577840" cy="38404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5577840" cy="59436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30552"/>
            <a:ext cx="52120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Step 4 — Test Coverage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2"/>
            <a:ext cx="521208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(runs in the main agent)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5212080" cy="17830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E20074"/>
                </a:solidFill>
                <a:latin typeface="TeleNeo"/>
              </a:rPr>
              <a:t>•  </a:t>
            </a:r>
            <a:r>
              <a:rPr sz="1100" b="0">
                <a:solidFill>
                  <a:srgbClr val="FFFFFF"/>
                </a:solidFill>
                <a:latin typeface="TeleNeo"/>
              </a:rPr>
              <a:t>Are there tests for changed/new code?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E20074"/>
                </a:solidFill>
                <a:latin typeface="TeleNeo"/>
              </a:rPr>
              <a:t>•  </a:t>
            </a:r>
            <a:r>
              <a:rPr sz="1100" b="0">
                <a:solidFill>
                  <a:srgbClr val="FFFFFF"/>
                </a:solidFill>
                <a:latin typeface="TeleNeo"/>
              </a:rPr>
              <a:t>Do they cover happy path + edge cases + error paths?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E20074"/>
                </a:solidFill>
                <a:latin typeface="TeleNeo"/>
              </a:rPr>
              <a:t>•  </a:t>
            </a:r>
            <a:r>
              <a:rPr sz="1100" b="0">
                <a:solidFill>
                  <a:srgbClr val="FFFFFF"/>
                </a:solidFill>
                <a:latin typeface="TeleNeo"/>
              </a:rPr>
              <a:t>Any new public functions or endpoints left untested?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E20074"/>
                </a:solidFill>
                <a:latin typeface="TeleNeo"/>
              </a:rPr>
              <a:t>•  </a:t>
            </a:r>
            <a:r>
              <a:rPr sz="1100" b="0">
                <a:solidFill>
                  <a:srgbClr val="FFFFFF"/>
                </a:solidFill>
                <a:latin typeface="TeleNeo"/>
              </a:rPr>
              <a:t>Do tests assert meaningful outcomes?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E20074"/>
                </a:solidFill>
                <a:latin typeface="TeleNeo"/>
              </a:rPr>
              <a:t>•  </a:t>
            </a:r>
            <a:r>
              <a:rPr sz="1100" b="0">
                <a:solidFill>
                  <a:srgbClr val="FFFFFF"/>
                </a:solidFill>
                <a:latin typeface="TeleNeo"/>
              </a:rPr>
              <a:t>Are mocks / stubs used appropriately?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92040"/>
            <a:ext cx="5212080" cy="868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892040"/>
            <a:ext cx="45720" cy="8686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83480"/>
            <a:ext cx="4937760" cy="7315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eleNeo"/>
              </a:rPr>
              <a:t>If tests are missing, /code-review generates them — one file per changed module, covering happy path + edge cases + all error paths.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011680"/>
            <a:ext cx="5577840" cy="38404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2011680"/>
            <a:ext cx="5577840" cy="594360"/>
          </a:xfrm>
          <a:prstGeom prst="roundRect">
            <a:avLst>
              <a:gd name="adj" fmla="val 5000"/>
            </a:avLst>
          </a:prstGeom>
          <a:solidFill>
            <a:srgbClr val="861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130552"/>
            <a:ext cx="52120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Step 5 — Opponent Auditor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79192"/>
            <a:ext cx="521208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(final subagent — sees findings from A / B / 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63240"/>
            <a:ext cx="365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063240"/>
            <a:ext cx="137160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Confirm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063240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Finding stands.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502152"/>
            <a:ext cx="365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861B54"/>
                </a:solidFill>
                <a:latin typeface="TeleNeo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502152"/>
            <a:ext cx="137160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Downgrade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02152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Real, but severity too high.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41064"/>
            <a:ext cx="365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6A6A6A"/>
                </a:solidFill>
                <a:latin typeface="TeleNeo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941064"/>
            <a:ext cx="137160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False positive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941064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Remove; explain why.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57200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4572000"/>
            <a:ext cx="45720" cy="1188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663440"/>
            <a:ext cx="4937760" cy="10515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TeleNeo"/>
              </a:rPr>
              <a:t>Also surfaces anything all three reviewers missed. Final report has an 'Auditor verdict' column on every finding.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989320"/>
            <a:ext cx="11002975" cy="45720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eleNeo"/>
              </a:rPr>
              <a:t>Why this works: role separation keeps each reviewer honest · a compare/auditor step catches misses AND over-flags.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16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Install —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Five steps. No admin rights. ~2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1.  Open Windows PowerShell.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2.  Go to your project folder:   cd C:\path\to\your-project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3.  Paste this command, press Enter: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10911535" cy="9601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45720" cy="9601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355848"/>
            <a:ext cx="10637215" cy="740664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irm https://gitlab.com/tmobile/ere/memory-bank/-/raw/master/scripts/init-memory-bank.ps1 | iex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4.  Open Cursor or Claude Code in that folder.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5.  In the AI chat, type exactly: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66360"/>
            <a:ext cx="10911535" cy="5486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166360"/>
            <a:ext cx="45720" cy="54864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10362895" cy="438912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E20074"/>
                </a:solidFill>
                <a:latin typeface="Consolas"/>
              </a:rPr>
              <a:t>"Install memory-bank for this project and follow the setup instructions."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52160"/>
            <a:ext cx="10911535" cy="59436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852160"/>
            <a:ext cx="45720" cy="59436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79592"/>
            <a:ext cx="10362895" cy="256032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TeleNeo"/>
              </a:rPr>
              <a:t>You do not need to understand the code. ✓ It worked if the AI reads memory-bank files and asks you to fill them 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44768"/>
            <a:ext cx="10362895" cy="256032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If prompted to sign in: use your T-Mobile GitLab login.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17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Install — Mac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Five steps. ~2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1.  Open Terminal.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2.  Go to your project folder:   cd /path/to/your-project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3.  Paste this command, press Return: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10911535" cy="9601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45720" cy="9601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355848"/>
            <a:ext cx="10637215" cy="740664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curl -sSL https://gitlab.com/tmobile/ere/memory-bank/-/raw/master/scripts/init-memory-bank.sh |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4.  Open Cursor or Claude Code in that folder.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5.  In the AI chat, type exactly: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66360"/>
            <a:ext cx="10911535" cy="5486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166360"/>
            <a:ext cx="45720" cy="54864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10362895" cy="438912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E20074"/>
                </a:solidFill>
                <a:latin typeface="Consolas"/>
              </a:rPr>
              <a:t>"Install memory-bank for this project and follow the setup instructions."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52160"/>
            <a:ext cx="10911535" cy="59436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852160"/>
            <a:ext cx="45720" cy="59436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79592"/>
            <a:ext cx="10362895" cy="256032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TeleNeo"/>
              </a:rPr>
              <a:t>You do not need to understand the code. ✓ It worked if the AI reads memory-bank files and asks you to fill them 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44768"/>
            <a:ext cx="10362895" cy="256032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If prompted to sign in: use your T-Mobile GitLab login.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18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Why make it global?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Copy the rules to your user folder once. Every future project inherits them — no per-project setup beyond the memory-bank scaffold.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48640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5120640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Why bother?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5120640" cy="33832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•  </a:t>
            </a:r>
            <a:r>
              <a:rPr sz="1400" b="0">
                <a:solidFill>
                  <a:srgbClr val="FFFFFF"/>
                </a:solidFill>
                <a:latin typeface="TeleNeo"/>
              </a:rPr>
              <a:t>New projects inherit </a:t>
            </a:r>
            <a:r>
              <a:rPr sz="1400" b="1">
                <a:solidFill>
                  <a:srgbClr val="FFFFFF"/>
                </a:solidFill>
                <a:latin typeface="TeleNeo"/>
              </a:rPr>
              <a:t>security, code quality, logging, workflow</a:t>
            </a:r>
            <a:r>
              <a:rPr sz="1400" b="0">
                <a:solidFill>
                  <a:srgbClr val="FFFFFF"/>
                </a:solidFill>
                <a:latin typeface="TeleNeo"/>
              </a:rPr>
              <a:t>, and Karpathy principles automatically.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•  </a:t>
            </a:r>
            <a:r>
              <a:rPr sz="1400" b="0">
                <a:solidFill>
                  <a:srgbClr val="FFFFFF"/>
                </a:solidFill>
                <a:latin typeface="TeleNeo"/>
              </a:rPr>
              <a:t>Slash commands </a:t>
            </a:r>
            <a:r>
              <a:rPr sz="1400" b="1">
                <a:solidFill>
                  <a:srgbClr val="FFFFFF"/>
                </a:solidFill>
                <a:latin typeface="Consolas"/>
              </a:rPr>
              <a:t>/feature-dev, /security-review, /code-review</a:t>
            </a:r>
            <a:r>
              <a:rPr sz="1400" b="0">
                <a:solidFill>
                  <a:srgbClr val="FFFFFF"/>
                </a:solidFill>
                <a:latin typeface="TeleNeo"/>
              </a:rPr>
              <a:t> work in every project.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E20074"/>
                </a:solidFill>
                <a:latin typeface="TeleNeo"/>
              </a:rPr>
              <a:t>•  </a:t>
            </a:r>
            <a:r>
              <a:rPr sz="1400" b="0">
                <a:solidFill>
                  <a:srgbClr val="FFFFFF"/>
                </a:solidFill>
                <a:latin typeface="TeleNeo"/>
              </a:rPr>
              <a:t>You only scaffold </a:t>
            </a:r>
            <a:r>
              <a:rPr sz="1400" b="1">
                <a:solidFill>
                  <a:srgbClr val="FFFFFF"/>
                </a:solidFill>
                <a:latin typeface="Consolas"/>
              </a:rPr>
              <a:t>memory-bank/</a:t>
            </a:r>
            <a:r>
              <a:rPr sz="1400" b="0">
                <a:solidFill>
                  <a:srgbClr val="FFFFFF"/>
                </a:solidFill>
                <a:latin typeface="TeleNeo"/>
              </a:rPr>
              <a:t> per project — rules are already 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965960"/>
            <a:ext cx="548640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1"/>
            <a:ext cx="5120640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Where rules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606040"/>
            <a:ext cx="5120640" cy="3383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2606040"/>
            <a:ext cx="45720" cy="33832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1" y="2715768"/>
            <a:ext cx="4846320" cy="3163824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~/.claude/
   CLAUDE.md        ← Claude Code rules
   AGENTS.md        ← cross-tool rules
   commands/*.md    ← slash commands
~/.cursor/
   rules/*.mdc      ← Cursor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263640"/>
            <a:ext cx="10911535" cy="228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6263640"/>
            <a:ext cx="45720" cy="2286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291072"/>
            <a:ext cx="10545775" cy="1828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TeleNeo"/>
              </a:rPr>
              <a:t>Next two slides: Windows PowerShell, then Mac / Linux Bash. Pick the one for your machine.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19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Make it global (Windows / PowerShell)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Run once inside the cloned memory-bank repo. Restart Claude Code / Cursor afterwards.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32004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911535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10545775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Run once per machine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10545775" cy="24688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06040"/>
            <a:ext cx="45720" cy="24688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715768"/>
            <a:ext cx="10271455" cy="2249424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onsolas"/>
              </a:rPr>
              <a:t>Copy-Item .\templates\CLAUDE.md "$env:USERPROFILE\.claude\CLAUDE.md"
Copy-Item .\templates\AGENTS.md "$env:USERPROFILE\.claude\AGENTS.md"
New-Item -ItemType Directory -Force -Path "$env:USERPROFILE\.claude\commands"
Copy-Item .\templates\claude-commands\*.md "$env:USERPROFILE\.claude\commands\"
New-Item -ItemType Directory -Force -Path "$env:USERPROFILE\.cursor\rules"
Copy-Item .\templates\cursor\rules\*.mdc   "$env:USERPROFILE\.cursor\rules\"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11535" cy="502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440680"/>
            <a:ext cx="45720" cy="5029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504688"/>
            <a:ext cx="10545775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TeleNeo"/>
              </a:rPr>
              <a:t>Restart Claude Code / Cursor to pick up new globals. See docs/GLOBAL-RULES-SETUP.md.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20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Make it global (Mac / Linux)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Bash equivalent. Same idea — one-time per machine; every future project inherits the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32004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911535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10545775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Run once per machine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10545775" cy="24688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06040"/>
            <a:ext cx="45720" cy="246888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715768"/>
            <a:ext cx="10271455" cy="2249424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mkdir -p ~/.claude/commands ~/.cursor/rules
cp ./templates/CLAUDE.md            ~/.claude/CLAUDE.md
cp ./templates/AGENTS.md            ~/.claude/AGENTS.md
cp ./templates/claude-commands/*.md ~/.claude/commands/
cp ./templates/cursor/rules/*.mdc   ~/.cursor/rules/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40680"/>
            <a:ext cx="10911535" cy="502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440680"/>
            <a:ext cx="45720" cy="5029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504688"/>
            <a:ext cx="10545775" cy="411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TeleNeo"/>
              </a:rPr>
              <a:t>Restart Claude Code / Cursor to pick up new globals. See docs/GLOBAL-RULES-SETUP.md.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21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Recommended first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Ten minutes, end-to-end, with an AI teammate.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0292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ele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21408"/>
            <a:ext cx="402336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Open a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31720"/>
            <a:ext cx="402336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In Cursor or Claude Code. Even an existing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79191"/>
            <a:ext cx="502920" cy="45720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70632"/>
            <a:ext cx="50292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eleNe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97479"/>
            <a:ext cx="402336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Install memory-bank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07791"/>
            <a:ext cx="402336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Run the one-liner. Fill in the 5 files (~15 min).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55263"/>
            <a:ext cx="502920" cy="45720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46703"/>
            <a:ext cx="50292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eleNe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73551"/>
            <a:ext cx="402336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Ask the AI to read memory-bank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83863"/>
            <a:ext cx="402336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Quick sanity check.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31335"/>
            <a:ext cx="502920" cy="45720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22775"/>
            <a:ext cx="50292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eleNe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49623"/>
            <a:ext cx="402336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Plan a small feature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59935"/>
            <a:ext cx="402336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Use /feature-dev.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07408"/>
            <a:ext cx="502920" cy="45720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98848"/>
            <a:ext cx="50292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eleNe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25696"/>
            <a:ext cx="402336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Let it implement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36008"/>
            <a:ext cx="402336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TDD: failing test → code → green. Small commits.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83479"/>
            <a:ext cx="502920" cy="45720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74919"/>
            <a:ext cx="50292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eleNe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001767"/>
            <a:ext cx="402336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Run /code-review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212079"/>
            <a:ext cx="402336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Watch reviewers + coverage + auditor.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59552"/>
            <a:ext cx="502920" cy="45720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50992"/>
            <a:ext cx="50292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eleNeo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577840"/>
            <a:ext cx="4023360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Review and commit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788152"/>
            <a:ext cx="402336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TeleNeo"/>
              </a:rPr>
              <a:t>Fix auditor-confirmed findings. Commit.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2103120"/>
            <a:ext cx="6217920" cy="402336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77840" y="2103120"/>
            <a:ext cx="621792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2212848"/>
            <a:ext cx="594360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E20074"/>
                </a:solidFill>
                <a:latin typeface="TeleNeo"/>
              </a:rPr>
              <a:t>What 'good' looks like after the first 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2651760"/>
            <a:ext cx="5852160" cy="329184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1">
                <a:solidFill>
                  <a:srgbClr val="FFFFFF"/>
                </a:solidFill>
                <a:latin typeface="TeleNeo"/>
              </a:rPr>
              <a:t>AI already knows the project</a:t>
            </a:r>
            <a:r>
              <a:rPr sz="1200" b="0">
                <a:solidFill>
                  <a:srgbClr val="E8E8E8"/>
                </a:solidFill>
                <a:latin typeface="TeleNeo"/>
              </a:rPr>
              <a:t>  without you re-explaining.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1">
                <a:solidFill>
                  <a:srgbClr val="FFFFFF"/>
                </a:solidFill>
                <a:latin typeface="TeleNeo"/>
              </a:rPr>
              <a:t>Standards applied consistently</a:t>
            </a:r>
            <a:r>
              <a:rPr sz="1200" b="0">
                <a:solidFill>
                  <a:srgbClr val="E8E8E8"/>
                </a:solidFill>
                <a:latin typeface="TeleNeo"/>
              </a:rPr>
              <a:t>  across every file.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1">
                <a:solidFill>
                  <a:srgbClr val="FFFFFF"/>
                </a:solidFill>
                <a:latin typeface="TeleNeo"/>
              </a:rPr>
              <a:t>Tests exist for new code</a:t>
            </a:r>
            <a:r>
              <a:rPr sz="1200" b="0">
                <a:solidFill>
                  <a:srgbClr val="E8E8E8"/>
                </a:solidFill>
                <a:latin typeface="TeleNeo"/>
              </a:rPr>
              <a:t>  — generated by the coverage reviewer if forgotten.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1">
                <a:solidFill>
                  <a:srgbClr val="FFFFFF"/>
                </a:solidFill>
                <a:latin typeface="TeleNeo"/>
              </a:rPr>
              <a:t>Findings are triaged</a:t>
            </a:r>
            <a:r>
              <a:rPr sz="1200" b="0">
                <a:solidFill>
                  <a:srgbClr val="E8E8E8"/>
                </a:solidFill>
                <a:latin typeface="TeleNeo"/>
              </a:rPr>
              <a:t>  — auditor verdict tells you what to fix vs ignore.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E20074"/>
                </a:solidFill>
                <a:latin typeface="TeleNeo"/>
              </a:rPr>
              <a:t>•  </a:t>
            </a:r>
            <a:r>
              <a:rPr sz="1200" b="1">
                <a:solidFill>
                  <a:srgbClr val="FFFFFF"/>
                </a:solidFill>
                <a:latin typeface="TeleNeo"/>
              </a:rPr>
              <a:t>Commit is clean</a:t>
            </a:r>
            <a:r>
              <a:rPr sz="1200" b="0">
                <a:solidFill>
                  <a:srgbClr val="E8E8E8"/>
                </a:solidFill>
                <a:latin typeface="TeleNeo"/>
              </a:rPr>
              <a:t>  — no secrets, no lint errors, descriptive message.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22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Adoption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Start small. Prove value. Expand.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911535" cy="777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45720" cy="77724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1554480" cy="77724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554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eleNeo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212848"/>
            <a:ext cx="237744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One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514600"/>
            <a:ext cx="917417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Pick a low-risk project. Run the one-liner. Fill memory-bank.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10911535" cy="777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45720" cy="77724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017520"/>
            <a:ext cx="1554480" cy="77724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1554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eleNeo"/>
              </a:rP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127248"/>
            <a:ext cx="237744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One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429000"/>
            <a:ext cx="917417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Use /feature-dev end-to-end. Run /code-review.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31920"/>
            <a:ext cx="10911535" cy="777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31920"/>
            <a:ext cx="45720" cy="77724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1554480" cy="77724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1554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eleNeo"/>
              </a:rPr>
              <a:t>Week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041648"/>
            <a:ext cx="237744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Gather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343400"/>
            <a:ext cx="917417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What saved time? What was noisy? Adjust.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46320"/>
            <a:ext cx="10911535" cy="777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846320"/>
            <a:ext cx="45720" cy="77724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846320"/>
            <a:ext cx="1554480" cy="77724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74920"/>
            <a:ext cx="1554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eleNeo"/>
              </a:rPr>
              <a:t>Week 4+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956048"/>
            <a:ext cx="237744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eleNeo"/>
              </a:rPr>
              <a:t>Expand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5257800"/>
            <a:ext cx="917417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TeleNeo"/>
              </a:rPr>
              <a:t>3 more repos. Global setup for the team. Add language extensions.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715000"/>
            <a:ext cx="10911535" cy="411480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10911535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eleNeo"/>
              </a:rPr>
              <a:t>Safer AI-assisted engineering starts with repeatable defaults.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99632"/>
            <a:ext cx="10911535" cy="256032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0">
                <a:solidFill>
                  <a:srgbClr val="E8E8E8"/>
                </a:solidFill>
                <a:latin typeface="TeleNeo"/>
              </a:rPr>
              <a:t>Questions?  Teams: RE - SkyNet Support - AI Discussion   ·   Email: eric.c.nolan@t-mobile.com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23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Quick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Daily shortcuts you'll actually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374904"/>
          </a:xfrm>
          <a:prstGeom prst="roundRect">
            <a:avLst>
              <a:gd name="adj" fmla="val 5000"/>
            </a:avLst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2651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39112"/>
            <a:ext cx="81683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What it does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86584"/>
            <a:ext cx="10911535" cy="37490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78024"/>
            <a:ext cx="2651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mb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78024"/>
            <a:ext cx="81683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Show Memory Bank file sizes and health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98648"/>
            <a:ext cx="2651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mb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98648"/>
            <a:ext cx="81683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Update Memory Bank files from the current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27832"/>
            <a:ext cx="10911535" cy="37490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19272"/>
            <a:ext cx="2651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mb slim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319272"/>
            <a:ext cx="81683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Trim activeContext.md to essentials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39896"/>
            <a:ext cx="2651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mb 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39896"/>
            <a:ext cx="81683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Stage and commit Memory Bank 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10911535" cy="37490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2651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160520"/>
            <a:ext cx="81683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Create handoff.md and stop (when context gets full)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81144"/>
            <a:ext cx="2651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/feature-dev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81144"/>
            <a:ext cx="81683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Run the full 7-phase workflow (Claude Code)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10328"/>
            <a:ext cx="10911535" cy="37490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01768"/>
            <a:ext cx="2651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/security-review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01768"/>
            <a:ext cx="81683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Scan the current diff for 9 security patterns (Claude Code)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22392"/>
            <a:ext cx="2651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/code-review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422392"/>
            <a:ext cx="81683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Multi-agent review: 3 parallel role subagents + test coverage + opponent auditor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751576"/>
            <a:ext cx="10911535" cy="37490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43016"/>
            <a:ext cx="265176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E20074"/>
                </a:solidFill>
                <a:latin typeface="Consolas"/>
              </a:rPr>
              <a:t>/accessibility-review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843016"/>
            <a:ext cx="81683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TeleNeo"/>
              </a:rPr>
              <a:t>WCAG 2.1 AA audit of UI code — 9 a11y dimensions, remediation checklist (on-demand)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24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What you get from adopting Memory Bank.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84832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84832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Memory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72539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Persistent project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05456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23744"/>
            <a:ext cx="72539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Seamless session transitions (65% Claude Code / 80% Cursor)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26080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26080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Security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44368"/>
            <a:ext cx="72539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BLOCK / CONFIRM / WARN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46704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46704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Code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64992"/>
            <a:ext cx="72539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Consistent AI output, verification before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67328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767328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Structured Logging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85615"/>
            <a:ext cx="72539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Queryable JSON logs, correlation IDs, PII redaction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187952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87952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Feature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06240"/>
            <a:ext cx="72539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Brainstorm → Spec → Plan → Implement → Simplify → Security →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608576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608576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Multi-agent /code-review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26864"/>
            <a:ext cx="72539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Role-separated reviewers + test coverage + opponent auditor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029200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029200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Accessibility (UI only)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047488"/>
            <a:ext cx="72539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WCAG 2.1 AA — glob-scoped Cursor rule + /accessibility-review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49824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449824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Enterprise hygiene (v1.5)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468112"/>
            <a:ext cx="72539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Prompt injection · Data classification · Ephemeral secrets · OWASP LLM Top 10 · Model governance · Incident runbook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870448"/>
            <a:ext cx="4114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800" b="1">
                <a:solidFill>
                  <a:srgbClr val="E20074"/>
                </a:solidFill>
                <a:latin typeface="TeleNeo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870448"/>
            <a:ext cx="3383280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eleNeo"/>
              </a:rPr>
              <a:t>Quick Commands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888736"/>
            <a:ext cx="7253935" cy="36576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  <a:latin typeface="TeleNeo"/>
              </a:rPr>
              <a:t>Easy daily use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obile-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37960"/>
            <a:ext cx="117344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TeleNeo"/>
              </a:rPr>
              <a:t>Memory Bank Standard  ·  Internal Enablement  ·  25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3200" b="1">
                <a:solidFill>
                  <a:srgbClr val="E20074"/>
                </a:solidFill>
                <a:latin typeface="TeleNeo"/>
              </a:rPr>
              <a:t>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840480" cy="457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TeleNeo"/>
              </a:rPr>
              <a:t>Where to go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48256"/>
            <a:ext cx="4114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Setup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66544"/>
            <a:ext cx="6979615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20074"/>
                </a:solidFill>
                <a:latin typeface="Consolas"/>
              </a:rPr>
              <a:t>docs/SETUP-GUIDE.md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4114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Quick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450592"/>
            <a:ext cx="6979615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20074"/>
                </a:solidFill>
                <a:latin typeface="Consolas"/>
              </a:rPr>
              <a:t>docs/QUICK-REFERENCE.md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2"/>
            <a:ext cx="4114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IDE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834640"/>
            <a:ext cx="6979615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20074"/>
                </a:solidFill>
                <a:latin typeface="Consolas"/>
              </a:rPr>
              <a:t>docs/CURSOR-VS-CLAUDE.md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Claude Code Plugins + slash 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18688"/>
            <a:ext cx="6979615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20074"/>
                </a:solidFill>
                <a:latin typeface="Consolas"/>
              </a:rPr>
              <a:t>docs/CLAUDE-CODE-PLUGINS.md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4114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Core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602736"/>
            <a:ext cx="6979615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20074"/>
                </a:solidFill>
                <a:latin typeface="Consolas"/>
              </a:rPr>
              <a:t>standards/*.md (Memory Bank, Security, Code Quality, Logging, Workflow, Accessibility)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68496"/>
            <a:ext cx="4114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Enterprise hygiene (v1.5)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986784"/>
            <a:ext cx="6979615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20074"/>
                </a:solidFill>
                <a:latin typeface="Consolas"/>
              </a:rPr>
              <a:t>standards/{RULES-FILE-INTEGRITY, DATA-CLASSIFICATION, SECRETS, LLM-TOP-10-MAPPING, MODEL-GOVERNANCE}.md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52544"/>
            <a:ext cx="4114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Incident runbook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370832"/>
            <a:ext cx="6979615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20074"/>
                </a:solidFill>
                <a:latin typeface="Consolas"/>
              </a:rPr>
              <a:t>templates/INCIDENT-RUNBOOK.md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36592"/>
            <a:ext cx="41148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eleNeo"/>
              </a:rPr>
              <a:t>Exercises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54880"/>
            <a:ext cx="6979615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20074"/>
                </a:solidFill>
                <a:latin typeface="Consolas"/>
              </a:rPr>
              <a:t>training/exercises/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58384"/>
            <a:ext cx="10911535" cy="105156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358384"/>
            <a:ext cx="45720" cy="105156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3657600" cy="32004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600" b="1">
                <a:solidFill>
                  <a:srgbClr val="E20074"/>
                </a:solidFill>
                <a:latin typeface="TeleNeo"/>
              </a:rPr>
              <a:t>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69864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Teams: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769864"/>
            <a:ext cx="9905695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20074"/>
                </a:solidFill>
                <a:latin typeface="TeleNeo"/>
              </a:rPr>
              <a:t>RE - SkyNet Support - AI Discussion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71616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eleNeo"/>
              </a:rPr>
              <a:t>GitLab: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6071616"/>
            <a:ext cx="9905695" cy="27432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300" b="0">
                <a:solidFill>
                  <a:srgbClr val="E20074"/>
                </a:solidFill>
                <a:latin typeface="Consolas"/>
              </a:rPr>
              <a:t>https://gitlab.com/tmobile/ere/memory-bank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